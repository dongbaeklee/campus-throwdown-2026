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37cbb488f547d2" /><Relationship Type="http://schemas.openxmlformats.org/officeDocument/2006/relationships/extended-properties" Target="/docProps/app.xml" Id="R4759921f69e048c1" /><Relationship Type="http://schemas.openxmlformats.org/officeDocument/2006/relationships/officeDocument" Target="/ppt/presentation.xml" Id="R82b07e00f5e54f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660ad1079b4e15"/>
  </p:sldMasterIdLst>
  <p:notesMasterIdLst>
    <p:notesMasterId xmlns:r="http://schemas.openxmlformats.org/officeDocument/2006/relationships" r:id="R00e529da616c49b3"/>
  </p:notesMasterIdLst>
  <p:sldIdLst>
    <p:sldId xmlns:r="http://schemas.openxmlformats.org/officeDocument/2006/relationships" id="256" r:id="R6da9ab540c014baa"/>
    <p:sldId xmlns:r="http://schemas.openxmlformats.org/officeDocument/2006/relationships" id="257" r:id="Rb0fb25fc2c2d43d1"/>
    <p:sldId xmlns:r="http://schemas.openxmlformats.org/officeDocument/2006/relationships" id="258" r:id="R1c50050259e84070"/>
    <p:sldId xmlns:r="http://schemas.openxmlformats.org/officeDocument/2006/relationships" id="259" r:id="Rc9e9423243ed428a"/>
    <p:sldId xmlns:r="http://schemas.openxmlformats.org/officeDocument/2006/relationships" id="260" r:id="R18b3fd1f28bc483f"/>
    <p:sldId xmlns:r="http://schemas.openxmlformats.org/officeDocument/2006/relationships" id="261" r:id="Rab546fc3b97e4d3f"/>
    <p:sldId xmlns:r="http://schemas.openxmlformats.org/officeDocument/2006/relationships" id="262" r:id="R6176735a53454d31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660ad1079b4e15" /><Relationship Type="http://schemas.openxmlformats.org/officeDocument/2006/relationships/theme" Target="/ppt/theme/theme1.xml" Id="R1f738c27bc01455d" /><Relationship Type="http://schemas.openxmlformats.org/officeDocument/2006/relationships/notesMaster" Target="/ppt/notesMasters/notesMaster1.xml" Id="R00e529da616c49b3" /><Relationship Type="http://schemas.openxmlformats.org/officeDocument/2006/relationships/presProps" Target="/ppt/presProps.xml" Id="R20b2521b71004737" /><Relationship Type="http://schemas.openxmlformats.org/officeDocument/2006/relationships/viewProps" Target="/ppt/viewProps.xml" Id="Rddef785aac64456f" /><Relationship Type="http://schemas.openxmlformats.org/officeDocument/2006/relationships/tableStyles" Target="/ppt/tableStyles.xml" Id="R318ab3be695f4956" /><Relationship Type="http://schemas.openxmlformats.org/officeDocument/2006/relationships/slide" Target="/ppt/slides/slide1.xml" Id="R6da9ab540c014baa" /><Relationship Type="http://schemas.openxmlformats.org/officeDocument/2006/relationships/slide" Target="/ppt/slides/slide2.xml" Id="Rb0fb25fc2c2d43d1" /><Relationship Type="http://schemas.openxmlformats.org/officeDocument/2006/relationships/slide" Target="/ppt/slides/slide3.xml" Id="R1c50050259e84070" /><Relationship Type="http://schemas.openxmlformats.org/officeDocument/2006/relationships/slide" Target="/ppt/slides/slide4.xml" Id="Rc9e9423243ed428a" /><Relationship Type="http://schemas.openxmlformats.org/officeDocument/2006/relationships/slide" Target="/ppt/slides/slide5.xml" Id="R18b3fd1f28bc483f" /><Relationship Type="http://schemas.openxmlformats.org/officeDocument/2006/relationships/slide" Target="/ppt/slides/slide6.xml" Id="Rab546fc3b97e4d3f" /><Relationship Type="http://schemas.openxmlformats.org/officeDocument/2006/relationships/slide" Target="/ppt/slides/slide7.xml" Id="R6176735a53454d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9993b7c5ea249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fe8178582d46d5" /><Relationship Type="http://schemas.openxmlformats.org/officeDocument/2006/relationships/notesMaster" Target="/ppt/notesMasters/notesMaster1.xml" Id="R9c8eef45809f49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3a0b54caa64f46" /><Relationship Type="http://schemas.openxmlformats.org/officeDocument/2006/relationships/notesMaster" Target="/ppt/notesMasters/notesMaster1.xml" Id="R36ca9bf3e5dd4d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cf45c5ed82462a" /><Relationship Type="http://schemas.openxmlformats.org/officeDocument/2006/relationships/notesMaster" Target="/ppt/notesMasters/notesMaster1.xml" Id="R1f114362de854a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c35d076f3f4b38" /><Relationship Type="http://schemas.openxmlformats.org/officeDocument/2006/relationships/notesMaster" Target="/ppt/notesMasters/notesMaster1.xml" Id="Ra262ff0cc1a54f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4f024f02954b9f" /><Relationship Type="http://schemas.openxmlformats.org/officeDocument/2006/relationships/notesMaster" Target="/ppt/notesMasters/notesMaster1.xml" Id="R06e9e2ca7d954b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3fa51613bb4720" /><Relationship Type="http://schemas.openxmlformats.org/officeDocument/2006/relationships/notesMaster" Target="/ppt/notesMasters/notesMaster1.xml" Id="R66d5d24f918943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d4121de90146b4" /><Relationship Type="http://schemas.openxmlformats.org/officeDocument/2006/relationships/notesMaster" Target="/ppt/notesMasters/notesMaster1.xml" Id="Raff0e854a80e4a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3685bd31e24c2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5389a75d3544f63" /><Relationship Type="http://schemas.openxmlformats.org/officeDocument/2006/relationships/slideLayout" Target="/ppt/slideLayouts/slideLayout2.xml" Id="R428f6e78117e43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8f6e78117e43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0097eea1184df5" /><Relationship Type="http://schemas.openxmlformats.org/officeDocument/2006/relationships/notesSlide" Target="/ppt/notesSlides/notesSlide1.xml" Id="R937d22490c4d42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b9b1fd63a4480d" /><Relationship Type="http://schemas.openxmlformats.org/officeDocument/2006/relationships/notesSlide" Target="/ppt/notesSlides/notesSlide2.xml" Id="R4435c37bee924e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7188443858429a" /><Relationship Type="http://schemas.openxmlformats.org/officeDocument/2006/relationships/notesSlide" Target="/ppt/notesSlides/notesSlide3.xml" Id="Rbaddde9d77c94f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471158f5e74aad" /><Relationship Type="http://schemas.openxmlformats.org/officeDocument/2006/relationships/notesSlide" Target="/ppt/notesSlides/notesSlide4.xml" Id="R226a6d8aeef54a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0960339fb644f3" /><Relationship Type="http://schemas.openxmlformats.org/officeDocument/2006/relationships/notesSlide" Target="/ppt/notesSlides/notesSlide5.xml" Id="Rdc557071671d4e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f9e54f6f0a404a" /><Relationship Type="http://schemas.openxmlformats.org/officeDocument/2006/relationships/notesSlide" Target="/ppt/notesSlides/notesSlide6.xml" Id="Rcf2a75a409a04fb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b750aa44bb44c2" /><Relationship Type="http://schemas.openxmlformats.org/officeDocument/2006/relationships/notesSlide" Target="/ppt/notesSlides/notesSlide7.xml" Id="R76ae93a976154f2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dark">
            <a:extLst xmlns:a="http://schemas.openxmlformats.org/drawingml/2006/main">
              <a:ext uri="{FF2B5EF4-FFF2-40B4-BE49-F238E27FC236}">
                <a16:creationId xmlns:a16="http://schemas.microsoft.com/office/drawing/2014/main" id="{6BA8A5DD-5801-479C-B890-F502AB43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30"/>
          </a:solidFill>
        </p:spPr>
      </p:sp>
      <p:sp>
        <p:nvSpPr>
          <p:cNvPr id="2" name="navy-field">
            <a:extLst xmlns:a="http://schemas.openxmlformats.org/drawingml/2006/main">
              <a:ext uri="{FF2B5EF4-FFF2-40B4-BE49-F238E27FC236}">
                <a16:creationId xmlns:a16="http://schemas.microsoft.com/office/drawing/2014/main" id="{D5206896-B931-41F1-9F67-EA5B4461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30"/>
          </a:solidFill>
        </p:spPr>
      </p:sp>
      <p:sp>
        <p:nvSpPr>
          <p:cNvPr id="3" name="blue-field">
            <a:extLst xmlns:a="http://schemas.openxmlformats.org/drawingml/2006/main">
              <a:ext uri="{FF2B5EF4-FFF2-40B4-BE49-F238E27FC236}">
                <a16:creationId xmlns:a16="http://schemas.microsoft.com/office/drawing/2014/main" id="{D664973D-E220-45EE-85C0-68590AB2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42672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8F"/>
          </a:solidFill>
        </p:spPr>
      </p:sp>
      <p:sp>
        <p:nvSpPr>
          <p:cNvPr id="4" name="orange-field">
            <a:extLst xmlns:a="http://schemas.openxmlformats.org/drawingml/2006/main">
              <a:ext uri="{FF2B5EF4-FFF2-40B4-BE49-F238E27FC236}">
                <a16:creationId xmlns:a16="http://schemas.microsoft.com/office/drawing/2014/main" id="{2DC77C88-8EC2-4F2F-B1A3-68205B41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0" y="0"/>
            <a:ext cx="18288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71D"/>
          </a:solidFill>
        </p:spPr>
      </p:sp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2EDCDAE9-DD91-4B12-B236-EE88CE4B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407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B199"/>
                </a:solidFill>
              </a:defRPr>
            </a:pPr>
            <a:r>
              <a:rPr sz="1650" b="1">
                <a:solidFill>
                  <a:srgbClr val="FFB199"/>
                </a:solidFill>
              </a:rPr>
              <a:t>UNIVERSITY CROSSFIT CHAMPIONSHIP</a:t>
            </a:r>
          </a:p>
        </p:txBody>
      </p:sp>
      <p:sp>
        <p:nvSpPr>
          <p:cNvPr id="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699E01E-9665-44C9-B98D-27DB49CE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76350"/>
            <a:ext cx="4438650" cy="485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950" b="1">
                <a:solidFill>
                  <a:srgbClr val="FFFFFF"/>
                </a:solidFill>
              </a:defRPr>
            </a:pPr>
            <a:r>
              <a:rPr sz="7950" b="1">
                <a:solidFill>
                  <a:srgbClr val="FFFFFF"/>
                </a:solidFill>
              </a:rPr>
              <a:t>BATTLE</a:t>
            </a:r>
          </a:p>
          <a:p xmlns:a="http://schemas.openxmlformats.org/drawingml/2006/main">
            <a:pPr>
              <a:defRPr sz="7950" b="1">
                <a:solidFill>
                  <a:srgbClr val="FFFFFF"/>
                </a:solidFill>
              </a:defRPr>
            </a:pPr>
            <a:r>
              <a:rPr sz="7950" b="1">
                <a:solidFill>
                  <a:srgbClr val="FFFFFF"/>
                </a:solidFill>
              </a:rPr>
              <a:t>OF THE</a:t>
            </a:r>
          </a:p>
          <a:p xmlns:a="http://schemas.openxmlformats.org/drawingml/2006/main">
            <a:pPr>
              <a:defRPr sz="7950" b="1">
                <a:solidFill>
                  <a:srgbClr val="FFFFFF"/>
                </a:solidFill>
              </a:defRPr>
            </a:pPr>
            <a:r>
              <a:rPr sz="7950" b="1">
                <a:solidFill>
                  <a:srgbClr val="FFFFFF"/>
                </a:solidFill>
              </a:rPr>
              <a:t>CAMPUS</a:t>
            </a:r>
          </a:p>
        </p:txBody>
      </p:sp>
      <p:sp>
        <p:nvSpPr>
          <p:cNvPr id="7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1E24D10-FE8A-44F5-8708-202780B7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62700"/>
            <a:ext cx="56007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DE7FF"/>
                </a:solidFill>
              </a:defRPr>
            </a:pPr>
            <a:r>
              <a:rPr sz="2550" b="1">
                <a:solidFill>
                  <a:srgbClr val="DDE7FF"/>
                </a:solidFill>
              </a:rPr>
              <a:t>학교 이름을 걸고 뛰는 2026년 9월의 WOD</a:t>
            </a:r>
          </a:p>
        </p:txBody>
      </p:sp>
      <p:sp>
        <p:nvSpPr>
          <p:cNvPr id="8" name="cover-dates">
            <a:extLst xmlns:a="http://schemas.openxmlformats.org/drawingml/2006/main">
              <a:ext uri="{FF2B5EF4-FFF2-40B4-BE49-F238E27FC236}">
                <a16:creationId xmlns:a16="http://schemas.microsoft.com/office/drawing/2014/main" id="{DADABC8D-A188-47B1-8308-AB64333F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7239000"/>
            <a:ext cx="40957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2026.09.12 SAT</a:t>
            </a:r>
          </a:p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2026.09.13 SUN</a:t>
            </a:r>
          </a:p>
        </p:txBody>
      </p:sp>
      <p:sp>
        <p:nvSpPr>
          <p:cNvPr id="9" name="cover-rule">
            <a:extLst xmlns:a="http://schemas.openxmlformats.org/drawingml/2006/main">
              <a:ext uri="{FF2B5EF4-FFF2-40B4-BE49-F238E27FC236}">
                <a16:creationId xmlns:a16="http://schemas.microsoft.com/office/drawing/2014/main" id="{76BA4C8B-B402-45A0-8176-B33C067A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8362950"/>
            <a:ext cx="409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5000"/>
            </a:srgbClr>
          </a:solidFill>
          <a:ln xmlns:a="http://schemas.openxmlformats.org/drawingml/2006/main" w="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0" name="cover-venue">
            <a:extLst xmlns:a="http://schemas.openxmlformats.org/drawingml/2006/main">
              <a:ext uri="{FF2B5EF4-FFF2-40B4-BE49-F238E27FC236}">
                <a16:creationId xmlns:a16="http://schemas.microsoft.com/office/drawing/2014/main" id="{91D6B641-4A30-4375-A61C-4429D1CE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8534400"/>
            <a:ext cx="4095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E4D6"/>
                </a:solidFill>
              </a:defRPr>
            </a:pPr>
            <a:r>
              <a:rPr sz="1800">
                <a:solidFill>
                  <a:srgbClr val="FFE4D6"/>
                </a:solidFill>
              </a:rPr>
              <a:t>서울 올림픽공원 체조경기장</a:t>
            </a:r>
          </a:p>
        </p:txBody>
      </p:sp>
      <p:sp>
        <p:nvSpPr>
          <p:cNvPr id="11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1B114C30-9FEA-4B9E-A50C-5993A413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22020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B199"/>
                </a:solidFill>
              </a:defRPr>
            </a:pPr>
            <a:r>
              <a:rPr sz="1800" b="1">
                <a:solidFill>
                  <a:srgbClr val="FFB199"/>
                </a:solidFill>
              </a:rPr>
              <a:t>소개 및 홍보 협업 제안서</a:t>
            </a:r>
          </a:p>
        </p:txBody>
      </p:sp>
    </p:spTree>
    <p:extLst>
      <p:ext uri="{BB962C8B-B14F-4D97-AF65-F5344CB8AC3E}">
        <p14:creationId xmlns:p14="http://schemas.microsoft.com/office/powerpoint/2010/main" val="158911570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D1FEE87E-0647-4689-B9CB-AFB03E74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9"/>
          </a:solidFill>
        </p:spPr>
      </p:sp>
      <p:sp>
        <p:nvSpPr>
          <p:cNvPr id="2" name="top-band">
            <a:extLst xmlns:a="http://schemas.openxmlformats.org/drawingml/2006/main">
              <a:ext uri="{FF2B5EF4-FFF2-40B4-BE49-F238E27FC236}">
                <a16:creationId xmlns:a16="http://schemas.microsoft.com/office/drawing/2014/main" id="{432D41AC-2992-4898-AD10-3D105B18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71D"/>
          </a:solidFill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5E27D4A7-3C98-49A0-A286-E47B3014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914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8471D"/>
                </a:solidFill>
              </a:defRPr>
            </a:pPr>
            <a:r>
              <a:rPr sz="1350" b="1">
                <a:solidFill>
                  <a:srgbClr val="E8471D"/>
                </a:solidFill>
              </a:rPr>
              <a:t>BOTC 2026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489AAC8-DA6C-44F6-AF18-6399A010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43000"/>
            <a:ext cx="333375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71030"/>
                </a:solidFill>
              </a:defRPr>
            </a:pPr>
            <a:r>
              <a:rPr sz="4350" b="1">
                <a:solidFill>
                  <a:srgbClr val="071030"/>
                </a:solidFill>
              </a:rPr>
              <a:t>대회 한 줄 소개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7757A11A-1493-4D75-BDA0-63623105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5791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75569"/>
                </a:solidFill>
              </a:defRPr>
            </a:pPr>
            <a:r>
              <a:rPr sz="1800">
                <a:solidFill>
                  <a:srgbClr val="475569"/>
                </a:solidFill>
              </a:rPr>
              <a:t>대학생 크로스핏 참가자와 관람객을 모으는 캠퍼스 대표전입니다.</a:t>
            </a:r>
          </a:p>
        </p:txBody>
      </p:sp>
      <p:sp>
        <p:nvSpPr>
          <p:cNvPr id="6" name="big-claim">
            <a:extLst xmlns:a="http://schemas.openxmlformats.org/drawingml/2006/main">
              <a:ext uri="{FF2B5EF4-FFF2-40B4-BE49-F238E27FC236}">
                <a16:creationId xmlns:a16="http://schemas.microsoft.com/office/drawing/2014/main" id="{887573B1-B3FF-4494-B90E-AB7EBF81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05400"/>
            <a:ext cx="7239000" cy="1562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071030"/>
                </a:solidFill>
              </a:defRPr>
            </a:pPr>
            <a:r>
              <a:rPr sz="5100" b="1">
                <a:solidFill>
                  <a:srgbClr val="071030"/>
                </a:solidFill>
              </a:rPr>
              <a:t>학교 이름을 걸고 뛰는 9월의 WOD.</a:t>
            </a:r>
          </a:p>
        </p:txBody>
      </p:sp>
      <p:sp>
        <p:nvSpPr>
          <p:cNvPr id="7" name="claim-detail">
            <a:extLst xmlns:a="http://schemas.openxmlformats.org/drawingml/2006/main">
              <a:ext uri="{FF2B5EF4-FFF2-40B4-BE49-F238E27FC236}">
                <a16:creationId xmlns:a16="http://schemas.microsoft.com/office/drawing/2014/main" id="{27F6FEB7-CE37-4E53-9823-1FFEE3FB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96100"/>
            <a:ext cx="68199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334155"/>
                </a:solidFill>
              </a:defRPr>
            </a:pPr>
            <a:r>
              <a:rPr sz="2250">
                <a:solidFill>
                  <a:srgbClr val="334155"/>
                </a:solidFill>
              </a:rPr>
              <a:t>초급부부터 중급부까지, 지금 실력으로 도전할 수 있는 대학생 크로스핏 대회.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7B872A-2061-47BC-843F-70D7090E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714750"/>
            <a:ext cx="3581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8471D"/>
                </a:solidFill>
              </a:defRPr>
            </a:pPr>
            <a:r>
              <a:rPr sz="1350" b="1">
                <a:solidFill>
                  <a:srgbClr val="E8471D"/>
                </a:solidFill>
              </a:rPr>
              <a:t>일정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CB0658-B5C9-4977-A035-1B705585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000500"/>
            <a:ext cx="3581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71030"/>
                </a:solidFill>
              </a:defRPr>
            </a:pPr>
            <a:r>
              <a:rPr sz="2400" b="1">
                <a:solidFill>
                  <a:srgbClr val="071030"/>
                </a:solidFill>
              </a:rPr>
              <a:t>9.12-9.13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496E7B-9989-48D7-B7FE-F29AE77F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3714750"/>
            <a:ext cx="3581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A3A8F"/>
                </a:solidFill>
              </a:defRPr>
            </a:pPr>
            <a:r>
              <a:rPr sz="1350" b="1">
                <a:solidFill>
                  <a:srgbClr val="1A3A8F"/>
                </a:solidFill>
              </a:rPr>
              <a:t>모집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4BD684-E01C-4C74-B60D-4A5B967F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4000500"/>
            <a:ext cx="3581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71030"/>
                </a:solidFill>
              </a:defRPr>
            </a:pPr>
            <a:r>
              <a:rPr sz="2400" b="1">
                <a:solidFill>
                  <a:srgbClr val="071030"/>
                </a:solidFill>
              </a:rPr>
              <a:t>선착순 200명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A9E95D-EE24-4B78-ABEE-973097D2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496050"/>
            <a:ext cx="3581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81B60"/>
                </a:solidFill>
              </a:defRPr>
            </a:pPr>
            <a:r>
              <a:rPr sz="1350" b="1">
                <a:solidFill>
                  <a:srgbClr val="D81B60"/>
                </a:solidFill>
              </a:rPr>
              <a:t>참가비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3BB065-55D6-498E-AAD4-FBF80099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781800"/>
            <a:ext cx="3581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71030"/>
                </a:solidFill>
              </a:defRPr>
            </a:pPr>
            <a:r>
              <a:rPr sz="2400" b="1">
                <a:solidFill>
                  <a:srgbClr val="071030"/>
                </a:solidFill>
              </a:rPr>
              <a:t>30,000원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23533B-447B-4031-8BDE-3968F8B3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6496050"/>
            <a:ext cx="3581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7C00"/>
                </a:solidFill>
              </a:defRPr>
            </a:pPr>
            <a:r>
              <a:rPr sz="1350" b="1">
                <a:solidFill>
                  <a:srgbClr val="F57C00"/>
                </a:solidFill>
              </a:rPr>
              <a:t>장소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DE1FBB-EB2F-480F-8D6C-94D01846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6781800"/>
            <a:ext cx="3581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71030"/>
                </a:solidFill>
              </a:defRPr>
            </a:pPr>
            <a:r>
              <a:rPr sz="2400" b="1">
                <a:solidFill>
                  <a:srgbClr val="071030"/>
                </a:solidFill>
              </a:rPr>
              <a:t>올림픽공원</a:t>
            </a:r>
          </a:p>
        </p:txBody>
      </p:sp>
      <p:sp>
        <p:nvSpPr>
          <p:cNvPr id="16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02932482-1EEB-4B51-ABC6-17561D91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10700"/>
            <a:ext cx="2266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BATTLE OF THE CAMPUS 2026</a:t>
            </a:r>
          </a:p>
        </p:txBody>
      </p:sp>
      <p:sp>
        <p:nvSpPr>
          <p:cNvPr id="17" name="page">
            <a:extLst xmlns:a="http://schemas.openxmlformats.org/drawingml/2006/main">
              <a:ext uri="{FF2B5EF4-FFF2-40B4-BE49-F238E27FC236}">
                <a16:creationId xmlns:a16="http://schemas.microsoft.com/office/drawing/2014/main" id="{607366A7-B1A1-42E0-B9C7-FADD5BBD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02150" y="9410700"/>
            <a:ext cx="171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8471D"/>
                </a:solidFill>
              </a:defRPr>
            </a:pPr>
            <a:r>
              <a:rPr sz="1200" b="1">
                <a:solidFill>
                  <a:srgbClr val="E8471D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865867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9E557915-27EF-4360-BCF2-FCA050A0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9"/>
          </a:solidFill>
        </p:spPr>
      </p:sp>
      <p:sp>
        <p:nvSpPr>
          <p:cNvPr id="2" name="top-band">
            <a:extLst xmlns:a="http://schemas.openxmlformats.org/drawingml/2006/main">
              <a:ext uri="{FF2B5EF4-FFF2-40B4-BE49-F238E27FC236}">
                <a16:creationId xmlns:a16="http://schemas.microsoft.com/office/drawing/2014/main" id="{780AA449-EBD7-4610-A43A-EBC10F69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71D"/>
          </a:solidFill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970FBB2E-568F-4300-95B9-02E09A87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914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8471D"/>
                </a:solidFill>
              </a:defRPr>
            </a:pPr>
            <a:r>
              <a:rPr sz="1350" b="1">
                <a:solidFill>
                  <a:srgbClr val="E8471D"/>
                </a:solidFill>
              </a:rPr>
              <a:t>BOTC 2026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30D68B8-F7D5-4510-8035-354187F2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43000"/>
            <a:ext cx="729615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71030"/>
                </a:solidFill>
              </a:defRPr>
            </a:pPr>
            <a:r>
              <a:rPr sz="4350" b="1">
                <a:solidFill>
                  <a:srgbClr val="071030"/>
                </a:solidFill>
              </a:rPr>
              <a:t>참가자가 바로 이해하는 운영 정보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21A79C44-E2FD-46AE-B92D-DAECF533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5124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75569"/>
                </a:solidFill>
              </a:defRPr>
            </a:pPr>
            <a:r>
              <a:rPr sz="1800">
                <a:solidFill>
                  <a:srgbClr val="475569"/>
                </a:solidFill>
              </a:rPr>
              <a:t>홍보 문구는 짧게, 운영 정보는 흔들리지 않게 고정합니다.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CEA24F-522B-4164-AC3F-2FA11EF9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518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8471D"/>
                </a:solidFill>
              </a:defRPr>
            </a:pPr>
            <a:r>
              <a:rPr sz="1350" b="1">
                <a:solidFill>
                  <a:srgbClr val="E8471D"/>
                </a:solidFill>
              </a:rPr>
              <a:t>STEP 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2572EC-5D95-45D6-9980-4417811B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51816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71030"/>
                </a:solidFill>
              </a:defRPr>
            </a:pPr>
            <a:r>
              <a:rPr sz="3300" b="1">
                <a:solidFill>
                  <a:srgbClr val="071030"/>
                </a:solidFill>
              </a:rPr>
              <a:t>2026.08.31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1759AF-EE42-4DDE-9175-F09FCF00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5181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71D"/>
          </a:solidFill>
          <a:ln xmlns:a="http://schemas.openxmlformats.org/drawingml/2006/main" w="0">
            <a:solidFill>
              <a:srgbClr val="E8471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09D56D-75F5-4563-A017-19727990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05350"/>
            <a:ext cx="51816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11827"/>
                </a:solidFill>
              </a:defRPr>
            </a:pPr>
            <a:r>
              <a:rPr sz="2175">
                <a:solidFill>
                  <a:srgbClr val="111827"/>
                </a:solidFill>
              </a:rPr>
              <a:t>참가 신청 마감</a:t>
            </a:r>
          </a:p>
          <a:p xmlns:a="http://schemas.openxmlformats.org/drawingml/2006/main">
            <a:pPr>
              <a:defRPr sz="2175">
                <a:solidFill>
                  <a:srgbClr val="111827"/>
                </a:solidFill>
              </a:defRPr>
            </a:pPr>
            <a:r>
              <a:rPr sz="2175">
                <a:solidFill>
                  <a:srgbClr val="111827"/>
                </a:solidFill>
              </a:rPr>
              <a:t>선착순 200명 기준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4F5997-CCA8-4920-8C79-3322BA76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48050"/>
            <a:ext cx="518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A3A8F"/>
                </a:solidFill>
              </a:defRPr>
            </a:pPr>
            <a:r>
              <a:rPr sz="1350" b="1">
                <a:solidFill>
                  <a:srgbClr val="1A3A8F"/>
                </a:solidFill>
              </a:rPr>
              <a:t>STEP 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26759E-90CA-4CC0-AEC9-307EF14A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29050"/>
            <a:ext cx="51816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71030"/>
                </a:solidFill>
              </a:defRPr>
            </a:pPr>
            <a:r>
              <a:rPr sz="3300" b="1">
                <a:solidFill>
                  <a:srgbClr val="071030"/>
                </a:solidFill>
              </a:rPr>
              <a:t>2026.09.12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AE05F4-FAA9-42FB-9A34-13817457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95800"/>
            <a:ext cx="5181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8F"/>
          </a:solidFill>
          <a:ln xmlns:a="http://schemas.openxmlformats.org/drawingml/2006/main" w="0">
            <a:solidFill>
              <a:srgbClr val="1A3A8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062BBE-4D95-4798-8195-EB304798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05350"/>
            <a:ext cx="51816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11827"/>
                </a:solidFill>
              </a:defRPr>
            </a:pPr>
            <a:r>
              <a:rPr sz="2175">
                <a:solidFill>
                  <a:srgbClr val="111827"/>
                </a:solidFill>
              </a:rPr>
              <a:t>예선전</a:t>
            </a:r>
          </a:p>
          <a:p xmlns:a="http://schemas.openxmlformats.org/drawingml/2006/main">
            <a:pPr>
              <a:defRPr sz="2175">
                <a:solidFill>
                  <a:srgbClr val="111827"/>
                </a:solidFill>
              </a:defRPr>
            </a:pPr>
            <a:r>
              <a:rPr sz="2175">
                <a:solidFill>
                  <a:srgbClr val="111827"/>
                </a:solidFill>
              </a:rPr>
              <a:t>오전 9시 시작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39C918-B4C0-4C6E-8A14-804F1BA1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448050"/>
            <a:ext cx="518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81B60"/>
                </a:solidFill>
              </a:defRPr>
            </a:pPr>
            <a:r>
              <a:rPr sz="1350" b="1">
                <a:solidFill>
                  <a:srgbClr val="D81B60"/>
                </a:solidFill>
              </a:rPr>
              <a:t>STEP 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1E41DD-1AF1-4AEB-B197-B18EC3A7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829050"/>
            <a:ext cx="51816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71030"/>
                </a:solidFill>
              </a:defRPr>
            </a:pPr>
            <a:r>
              <a:rPr sz="3300" b="1">
                <a:solidFill>
                  <a:srgbClr val="071030"/>
                </a:solidFill>
              </a:rPr>
              <a:t>2026.09.13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000870-00BF-4063-99BF-77B8469D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495800"/>
            <a:ext cx="5181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1B60"/>
          </a:solidFill>
          <a:ln xmlns:a="http://schemas.openxmlformats.org/drawingml/2006/main" w="0">
            <a:solidFill>
              <a:srgbClr val="D81B6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96280E-4505-47F1-9A52-34391C13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705350"/>
            <a:ext cx="51816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11827"/>
                </a:solidFill>
              </a:defRPr>
            </a:pPr>
            <a:r>
              <a:rPr sz="2175">
                <a:solidFill>
                  <a:srgbClr val="111827"/>
                </a:solidFill>
              </a:rPr>
              <a:t>결선 및 시상식</a:t>
            </a:r>
          </a:p>
          <a:p xmlns:a="http://schemas.openxmlformats.org/drawingml/2006/main">
            <a:pPr>
              <a:defRPr sz="2175">
                <a:solidFill>
                  <a:srgbClr val="111827"/>
                </a:solidFill>
              </a:defRPr>
            </a:pPr>
            <a:r>
              <a:rPr sz="2175">
                <a:solidFill>
                  <a:srgbClr val="111827"/>
                </a:solidFill>
              </a:rPr>
              <a:t>오전 10시 시작</a:t>
            </a:r>
          </a:p>
        </p:txBody>
      </p:sp>
      <p:sp>
        <p:nvSpPr>
          <p:cNvPr id="18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6FD56370-F6D7-4509-9C45-291A110D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10700"/>
            <a:ext cx="2266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BATTLE OF THE CAMPUS 2026</a:t>
            </a:r>
          </a:p>
        </p:txBody>
      </p:sp>
      <p:sp>
        <p:nvSpPr>
          <p:cNvPr id="19" name="page">
            <a:extLst xmlns:a="http://schemas.openxmlformats.org/drawingml/2006/main">
              <a:ext uri="{FF2B5EF4-FFF2-40B4-BE49-F238E27FC236}">
                <a16:creationId xmlns:a16="http://schemas.microsoft.com/office/drawing/2014/main" id="{6DB8AB86-881A-4B01-99E3-EAD4A36F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02150" y="9410700"/>
            <a:ext cx="171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8471D"/>
                </a:solidFill>
              </a:defRPr>
            </a:pPr>
            <a:r>
              <a:rPr sz="1200" b="1">
                <a:solidFill>
                  <a:srgbClr val="E8471D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2220041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FD983503-A4A8-4F8B-9A5B-01A84305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9"/>
          </a:solidFill>
        </p:spPr>
      </p:sp>
      <p:sp>
        <p:nvSpPr>
          <p:cNvPr id="2" name="top-band">
            <a:extLst xmlns:a="http://schemas.openxmlformats.org/drawingml/2006/main">
              <a:ext uri="{FF2B5EF4-FFF2-40B4-BE49-F238E27FC236}">
                <a16:creationId xmlns:a16="http://schemas.microsoft.com/office/drawing/2014/main" id="{064674F5-E3D4-4912-9834-38A2BF2F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71D"/>
          </a:solidFill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0FCA2672-1D70-469D-A357-F78B3B97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914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8471D"/>
                </a:solidFill>
              </a:defRPr>
            </a:pPr>
            <a:r>
              <a:rPr sz="1350" b="1">
                <a:solidFill>
                  <a:srgbClr val="E8471D"/>
                </a:solidFill>
              </a:rPr>
              <a:t>BOTC 2026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A374DB2-1B6D-4B9B-9B44-15BA60E6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43000"/>
            <a:ext cx="47625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71030"/>
                </a:solidFill>
              </a:defRPr>
            </a:pPr>
            <a:r>
              <a:rPr sz="4350" b="1">
                <a:solidFill>
                  <a:srgbClr val="071030"/>
                </a:solidFill>
              </a:rPr>
              <a:t>왜 지금 참여해야 하나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35981356-CC2C-4801-A3C5-5301D3B0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4210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75569"/>
                </a:solidFill>
              </a:defRPr>
            </a:pPr>
            <a:r>
              <a:rPr sz="1800">
                <a:solidFill>
                  <a:srgbClr val="475569"/>
                </a:solidFill>
              </a:rPr>
              <a:t>경쟁감은 강하게, 진입 장벽은 낮게 설계합니다.</a:t>
            </a:r>
          </a:p>
        </p:txBody>
      </p:sp>
      <p:sp>
        <p:nvSpPr>
          <p:cNvPr id="6" name="capacity">
            <a:extLst xmlns:a="http://schemas.openxmlformats.org/drawingml/2006/main">
              <a:ext uri="{FF2B5EF4-FFF2-40B4-BE49-F238E27FC236}">
                <a16:creationId xmlns:a16="http://schemas.microsoft.com/office/drawing/2014/main" id="{53826D0D-1ED2-4E3D-8C92-8DB8E538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7105650" cy="205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0" b="1">
                <a:solidFill>
                  <a:srgbClr val="E8471D"/>
                </a:solidFill>
              </a:defRPr>
            </a:pPr>
            <a:r>
              <a:rPr sz="13500" b="1">
                <a:solidFill>
                  <a:srgbClr val="E8471D"/>
                </a:solidFill>
              </a:rPr>
              <a:t>200</a:t>
            </a:r>
          </a:p>
        </p:txBody>
      </p:sp>
      <p:sp>
        <p:nvSpPr>
          <p:cNvPr id="7" name="capacity-label">
            <a:extLst xmlns:a="http://schemas.openxmlformats.org/drawingml/2006/main">
              <a:ext uri="{FF2B5EF4-FFF2-40B4-BE49-F238E27FC236}">
                <a16:creationId xmlns:a16="http://schemas.microsoft.com/office/drawing/2014/main" id="{88CD9E75-0551-429C-B6C0-C4101888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77050"/>
            <a:ext cx="71056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030"/>
                </a:solidFill>
              </a:defRPr>
            </a:pPr>
            <a:r>
              <a:rPr sz="2850" b="1">
                <a:solidFill>
                  <a:srgbClr val="071030"/>
                </a:solidFill>
              </a:rPr>
              <a:t>선착순 참가 모집</a:t>
            </a:r>
          </a:p>
        </p:txBody>
      </p:sp>
      <p:sp>
        <p:nvSpPr>
          <p:cNvPr id="8" name="capacity-note">
            <a:extLst xmlns:a="http://schemas.openxmlformats.org/drawingml/2006/main">
              <a:ext uri="{FF2B5EF4-FFF2-40B4-BE49-F238E27FC236}">
                <a16:creationId xmlns:a16="http://schemas.microsoft.com/office/drawing/2014/main" id="{B9F11401-251F-49C1-9CAA-A6A70BEE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448550"/>
            <a:ext cx="4457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B7280"/>
                </a:solidFill>
              </a:defRPr>
            </a:pPr>
            <a:r>
              <a:rPr sz="1800">
                <a:solidFill>
                  <a:srgbClr val="6B7280"/>
                </a:solidFill>
              </a:rPr>
              <a:t>마감 전 빠른 행동을 만드는 가장 강한 정보입니다.</a:t>
            </a:r>
          </a:p>
        </p:txBody>
      </p:sp>
      <p:sp>
        <p:nvSpPr>
          <p:cNvPr id="9" name="dot-0">
            <a:extLst xmlns:a="http://schemas.openxmlformats.org/drawingml/2006/main">
              <a:ext uri="{FF2B5EF4-FFF2-40B4-BE49-F238E27FC236}">
                <a16:creationId xmlns:a16="http://schemas.microsoft.com/office/drawing/2014/main" id="{CCB001B3-A468-48C1-B5F0-8E3E8176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71D"/>
          </a:solidFill>
        </p:spPr>
      </p:sp>
      <p:sp>
        <p:nvSpPr>
          <p:cNvPr id="10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DA2CA9D4-CEFB-4930-A955-6ED2A0D4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14750"/>
            <a:ext cx="8420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11827"/>
                </a:solidFill>
              </a:defRPr>
            </a:pPr>
            <a:r>
              <a:rPr sz="2025">
                <a:solidFill>
                  <a:srgbClr val="111827"/>
                </a:solidFill>
              </a:rPr>
              <a:t>학교 이름을 걸고 출전하는 캠퍼스 대표전 메시지</a:t>
            </a:r>
          </a:p>
        </p:txBody>
      </p:sp>
      <p:sp>
        <p:nvSpPr>
          <p:cNvPr id="11" name="dot-1">
            <a:extLst xmlns:a="http://schemas.openxmlformats.org/drawingml/2006/main">
              <a:ext uri="{FF2B5EF4-FFF2-40B4-BE49-F238E27FC236}">
                <a16:creationId xmlns:a16="http://schemas.microsoft.com/office/drawing/2014/main" id="{9B72072A-F458-40BC-95BF-41ACA937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91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71D"/>
          </a:solidFill>
        </p:spPr>
      </p:sp>
      <p:sp>
        <p:nvSpPr>
          <p:cNvPr id="12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8E24B41D-2D4D-49A9-BD7B-F906ED62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91000"/>
            <a:ext cx="8420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11827"/>
                </a:solidFill>
              </a:defRPr>
            </a:pPr>
            <a:r>
              <a:rPr sz="2025">
                <a:solidFill>
                  <a:srgbClr val="111827"/>
                </a:solidFill>
              </a:rPr>
              <a:t>초급부와 중급부를 나눠 첫 대회 참가 부담 완화</a:t>
            </a:r>
          </a:p>
        </p:txBody>
      </p:sp>
      <p:sp>
        <p:nvSpPr>
          <p:cNvPr id="13" name="dot-2">
            <a:extLst xmlns:a="http://schemas.openxmlformats.org/drawingml/2006/main">
              <a:ext uri="{FF2B5EF4-FFF2-40B4-BE49-F238E27FC236}">
                <a16:creationId xmlns:a16="http://schemas.microsoft.com/office/drawing/2014/main" id="{F75657FC-201C-43BB-AC11-5872DE66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686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71D"/>
          </a:solidFill>
        </p:spPr>
      </p:sp>
      <p:sp>
        <p:nvSpPr>
          <p:cNvPr id="14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947136AC-4E7C-4208-A1C9-D1DEBF40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86300"/>
            <a:ext cx="8420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11827"/>
                </a:solidFill>
              </a:defRPr>
            </a:pPr>
            <a:r>
              <a:rPr sz="2025">
                <a:solidFill>
                  <a:srgbClr val="111827"/>
                </a:solidFill>
              </a:rPr>
              <a:t>운동 동아리, 체육 관련 학과, 크로스핏 박스에 맞는 타깃성</a:t>
            </a:r>
          </a:p>
        </p:txBody>
      </p:sp>
      <p:sp>
        <p:nvSpPr>
          <p:cNvPr id="15" name="dot-3">
            <a:extLst xmlns:a="http://schemas.openxmlformats.org/drawingml/2006/main">
              <a:ext uri="{FF2B5EF4-FFF2-40B4-BE49-F238E27FC236}">
                <a16:creationId xmlns:a16="http://schemas.microsoft.com/office/drawing/2014/main" id="{BDC7FD4D-3ED7-40E5-96B4-FF6F6E9A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162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71D"/>
          </a:solidFill>
        </p:spPr>
      </p:sp>
      <p:sp>
        <p:nvSpPr>
          <p:cNvPr id="16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C53931E0-A04E-4459-8913-02D27174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162550"/>
            <a:ext cx="8420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11827"/>
                </a:solidFill>
              </a:defRPr>
            </a:pPr>
            <a:r>
              <a:rPr sz="2025">
                <a:solidFill>
                  <a:srgbClr val="111827"/>
                </a:solidFill>
              </a:rPr>
              <a:t>현장 관람까지 확장 가능한 대학 스포츠 이벤트</a:t>
            </a:r>
          </a:p>
        </p:txBody>
      </p:sp>
      <p:sp>
        <p:nvSpPr>
          <p:cNvPr id="17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86913CC7-92BF-4E2F-A86A-11FC6EAE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10700"/>
            <a:ext cx="2266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BATTLE OF THE CAMPUS 2026</a:t>
            </a:r>
          </a:p>
        </p:txBody>
      </p:sp>
      <p:sp>
        <p:nvSpPr>
          <p:cNvPr id="18" name="page">
            <a:extLst xmlns:a="http://schemas.openxmlformats.org/drawingml/2006/main">
              <a:ext uri="{FF2B5EF4-FFF2-40B4-BE49-F238E27FC236}">
                <a16:creationId xmlns:a16="http://schemas.microsoft.com/office/drawing/2014/main" id="{5999CFB3-BC57-4728-BF1C-AE8D6657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02150" y="9410700"/>
            <a:ext cx="171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8471D"/>
                </a:solidFill>
              </a:defRPr>
            </a:pPr>
            <a:r>
              <a:rPr sz="1200" b="1">
                <a:solidFill>
                  <a:srgbClr val="E8471D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1026057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D0FE8588-7E92-4BAA-963B-F4FFE374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9"/>
          </a:solidFill>
        </p:spPr>
      </p:sp>
      <p:sp>
        <p:nvSpPr>
          <p:cNvPr id="2" name="top-band">
            <a:extLst xmlns:a="http://schemas.openxmlformats.org/drawingml/2006/main">
              <a:ext uri="{FF2B5EF4-FFF2-40B4-BE49-F238E27FC236}">
                <a16:creationId xmlns:a16="http://schemas.microsoft.com/office/drawing/2014/main" id="{89D8016F-A246-4E84-B2E9-F06B4145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71D"/>
          </a:solidFill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067F3562-D645-42BF-AA43-C7138375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914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8471D"/>
                </a:solidFill>
              </a:defRPr>
            </a:pPr>
            <a:r>
              <a:rPr sz="1350" b="1">
                <a:solidFill>
                  <a:srgbClr val="E8471D"/>
                </a:solidFill>
              </a:rPr>
              <a:t>BOTC 2026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A874319-3CA4-48DB-90DD-BB547E80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43000"/>
            <a:ext cx="36576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71030"/>
                </a:solidFill>
              </a:defRPr>
            </a:pPr>
            <a:r>
              <a:rPr sz="4350" b="1">
                <a:solidFill>
                  <a:srgbClr val="071030"/>
                </a:solidFill>
              </a:rPr>
              <a:t>홍보 채널 운영안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E9A19E12-DA8D-497C-B4D8-B6127ADB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4533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75569"/>
                </a:solidFill>
              </a:defRPr>
            </a:pPr>
            <a:r>
              <a:rPr sz="1800">
                <a:solidFill>
                  <a:srgbClr val="475569"/>
                </a:solidFill>
              </a:rPr>
              <a:t>같은 문구를 반복하기보다 채널별 역할을 나눕니다.</a:t>
            </a:r>
          </a:p>
        </p:txBody>
      </p:sp>
      <p:sp>
        <p:nvSpPr>
          <p:cNvPr id="6" name="channel-stack">
            <a:extLst xmlns:a="http://schemas.openxmlformats.org/drawingml/2006/main">
              <a:ext uri="{FF2B5EF4-FFF2-40B4-BE49-F238E27FC236}">
                <a16:creationId xmlns:a16="http://schemas.microsoft.com/office/drawing/2014/main" id="{26DECFE6-4DD7-4C64-9582-2B42367D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5886450" cy="257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71030"/>
                </a:solidFill>
              </a:defRPr>
            </a:pPr>
            <a:r>
              <a:rPr sz="4200" b="1">
                <a:solidFill>
                  <a:srgbClr val="071030"/>
                </a:solidFill>
              </a:rPr>
              <a:t>FEED</a:t>
            </a:r>
          </a:p>
          <a:p xmlns:a="http://schemas.openxmlformats.org/drawingml/2006/main">
            <a:pPr>
              <a:defRPr sz="4200" b="1">
                <a:solidFill>
                  <a:srgbClr val="071030"/>
                </a:solidFill>
              </a:defRPr>
            </a:pPr>
            <a:r>
              <a:rPr sz="4200" b="1">
                <a:solidFill>
                  <a:srgbClr val="071030"/>
                </a:solidFill>
              </a:rPr>
              <a:t>STORY</a:t>
            </a:r>
          </a:p>
          <a:p xmlns:a="http://schemas.openxmlformats.org/drawingml/2006/main">
            <a:pPr>
              <a:defRPr sz="4200" b="1">
                <a:solidFill>
                  <a:srgbClr val="071030"/>
                </a:solidFill>
              </a:defRPr>
            </a:pPr>
            <a:r>
              <a:rPr sz="4200" b="1">
                <a:solidFill>
                  <a:srgbClr val="071030"/>
                </a:solidFill>
              </a:rPr>
              <a:t>COMMUNITY</a:t>
            </a:r>
          </a:p>
          <a:p xmlns:a="http://schemas.openxmlformats.org/drawingml/2006/main">
            <a:pPr>
              <a:defRPr sz="4200" b="1">
                <a:solidFill>
                  <a:srgbClr val="071030"/>
                </a:solidFill>
              </a:defRPr>
            </a:pPr>
            <a:r>
              <a:rPr sz="4200" b="1">
                <a:solidFill>
                  <a:srgbClr val="071030"/>
                </a:solidFill>
              </a:rPr>
              <a:t>POSTER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796D1A-3563-4B16-A41B-604A3864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972300"/>
            <a:ext cx="266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71D"/>
          </a:solidFill>
          <a:ln xmlns:a="http://schemas.openxmlformats.org/drawingml/2006/main" w="0">
            <a:solidFill>
              <a:srgbClr val="E8471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27D987-5F4A-4D08-8E6F-7977EDAE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19950"/>
            <a:ext cx="3009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B7280"/>
                </a:solidFill>
              </a:defRPr>
            </a:pPr>
            <a:r>
              <a:rPr sz="1875">
                <a:solidFill>
                  <a:srgbClr val="6B7280"/>
                </a:solidFill>
              </a:rPr>
              <a:t>각 채널은 다른 질문에 답합니다.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407D54-CE2C-41F3-82D4-DF87DF13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48000"/>
            <a:ext cx="10001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8471D"/>
                </a:solidFill>
              </a:defRPr>
            </a:pPr>
            <a:r>
              <a:rPr sz="1350" b="1">
                <a:solidFill>
                  <a:srgbClr val="E8471D"/>
                </a:solidFill>
              </a:rPr>
              <a:t>Instagram Feed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26025F-8B7F-4502-97A2-61171251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333750"/>
            <a:ext cx="10001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71030"/>
                </a:solidFill>
              </a:defRPr>
            </a:pPr>
            <a:r>
              <a:rPr sz="2400" b="1">
                <a:solidFill>
                  <a:srgbClr val="071030"/>
                </a:solidFill>
              </a:rPr>
              <a:t>대회 정체성과 일정 고지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3EF1FF-956F-4B17-9A2B-C5C043FC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05250"/>
            <a:ext cx="10001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A3A8F"/>
                </a:solidFill>
              </a:defRPr>
            </a:pPr>
            <a:r>
              <a:rPr sz="1350" b="1">
                <a:solidFill>
                  <a:srgbClr val="1A3A8F"/>
                </a:solidFill>
              </a:rPr>
              <a:t>Instagram 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1B314D-15E8-46C8-9874-E84994A5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191000"/>
            <a:ext cx="10001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71030"/>
                </a:solidFill>
              </a:defRPr>
            </a:pPr>
            <a:r>
              <a:rPr sz="2400" b="1">
                <a:solidFill>
                  <a:srgbClr val="071030"/>
                </a:solidFill>
              </a:rPr>
              <a:t>마감 알림과 신청 링크 반복 노출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67DA5F-B268-450D-9B0B-136CB1BE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762500"/>
            <a:ext cx="10001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81B60"/>
                </a:solidFill>
              </a:defRPr>
            </a:pPr>
            <a:r>
              <a:rPr sz="1350" b="1">
                <a:solidFill>
                  <a:srgbClr val="D81B60"/>
                </a:solidFill>
              </a:rPr>
              <a:t>대학 커뮤니티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CA7E0A-3C8A-4823-B900-1F1C2093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048250"/>
            <a:ext cx="10001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71030"/>
                </a:solidFill>
              </a:defRPr>
            </a:pPr>
            <a:r>
              <a:rPr sz="2400" b="1">
                <a:solidFill>
                  <a:srgbClr val="071030"/>
                </a:solidFill>
              </a:rPr>
              <a:t>참가 자격, 부문, 참가비 중심 안내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890AE0-BE4E-4FCF-9095-01CCD12A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619750"/>
            <a:ext cx="10001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7C00"/>
                </a:solidFill>
              </a:defRPr>
            </a:pPr>
            <a:r>
              <a:rPr sz="1350" b="1">
                <a:solidFill>
                  <a:srgbClr val="F57C00"/>
                </a:solidFill>
              </a:rPr>
              <a:t>동아리/학생회 단톡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CA00C0-1633-4826-9951-CFE16135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905500"/>
            <a:ext cx="10001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71030"/>
                </a:solidFill>
              </a:defRPr>
            </a:pPr>
            <a:r>
              <a:rPr sz="2400" b="1">
                <a:solidFill>
                  <a:srgbClr val="071030"/>
                </a:solidFill>
              </a:rPr>
              <a:t>짧은 공유문과 신청 링크 배포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C24B00-B281-416C-95B0-E1BC3A4D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6477000"/>
            <a:ext cx="10001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C1A40"/>
                </a:solidFill>
              </a:defRPr>
            </a:pPr>
            <a:r>
              <a:rPr sz="1350" b="1">
                <a:solidFill>
                  <a:srgbClr val="0C1A40"/>
                </a:solidFill>
              </a:rPr>
              <a:t>오프라인 포스터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2DE89D-1514-400F-80E3-1103DD81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6762750"/>
            <a:ext cx="10001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71030"/>
                </a:solidFill>
              </a:defRPr>
            </a:pPr>
            <a:r>
              <a:rPr sz="2400" b="1">
                <a:solidFill>
                  <a:srgbClr val="071030"/>
                </a:solidFill>
              </a:rPr>
              <a:t>날짜, 장소, QR 신청 동선 집중</a:t>
            </a:r>
          </a:p>
        </p:txBody>
      </p:sp>
      <p:sp>
        <p:nvSpPr>
          <p:cNvPr id="19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8A91F9BA-A077-4E46-9A32-945E3409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10700"/>
            <a:ext cx="2266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BATTLE OF THE CAMPUS 2026</a:t>
            </a:r>
          </a:p>
        </p:txBody>
      </p:sp>
      <p:sp>
        <p:nvSpPr>
          <p:cNvPr id="20" name="page">
            <a:extLst xmlns:a="http://schemas.openxmlformats.org/drawingml/2006/main">
              <a:ext uri="{FF2B5EF4-FFF2-40B4-BE49-F238E27FC236}">
                <a16:creationId xmlns:a16="http://schemas.microsoft.com/office/drawing/2014/main" id="{B2229406-DA91-4D66-8394-1AE77E56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02150" y="9410700"/>
            <a:ext cx="171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8471D"/>
                </a:solidFill>
              </a:defRPr>
            </a:pPr>
            <a:r>
              <a:rPr sz="1200" b="1">
                <a:solidFill>
                  <a:srgbClr val="E8471D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0289299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68AB0381-28FC-4C0E-984F-65D16059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9"/>
          </a:solidFill>
        </p:spPr>
      </p:sp>
      <p:sp>
        <p:nvSpPr>
          <p:cNvPr id="2" name="top-band">
            <a:extLst xmlns:a="http://schemas.openxmlformats.org/drawingml/2006/main">
              <a:ext uri="{FF2B5EF4-FFF2-40B4-BE49-F238E27FC236}">
                <a16:creationId xmlns:a16="http://schemas.microsoft.com/office/drawing/2014/main" id="{AFB61C7D-916E-4865-B8D0-096A52FC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71D"/>
          </a:solidFill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CECDC3B7-6DA1-4319-8418-769C96BA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914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8471D"/>
                </a:solidFill>
              </a:defRPr>
            </a:pPr>
            <a:r>
              <a:rPr sz="1350" b="1">
                <a:solidFill>
                  <a:srgbClr val="E8471D"/>
                </a:solidFill>
              </a:rPr>
              <a:t>BOTC 2026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0DFD69C-EEE2-49E2-9767-424DF6CF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43000"/>
            <a:ext cx="36576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71030"/>
                </a:solidFill>
              </a:defRPr>
            </a:pPr>
            <a:r>
              <a:rPr sz="4350" b="1">
                <a:solidFill>
                  <a:srgbClr val="071030"/>
                </a:solidFill>
              </a:rPr>
              <a:t>제휴 제안 포인트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1BD3BBC0-9958-49CE-B97A-DC9D9FF2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5238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75569"/>
                </a:solidFill>
              </a:defRPr>
            </a:pPr>
            <a:r>
              <a:rPr sz="1800">
                <a:solidFill>
                  <a:srgbClr val="475569"/>
                </a:solidFill>
              </a:rPr>
              <a:t>동아리, 학생회, 박스, 브랜드가 얻는 이득을 먼저 말합니다.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0274B5-F71B-42CF-8C85-78D80E9A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7924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8471D"/>
                </a:solidFill>
              </a:defRPr>
            </a:pPr>
            <a:r>
              <a:rPr sz="1650" b="1">
                <a:solidFill>
                  <a:srgbClr val="E8471D"/>
                </a:solidFill>
              </a:rPr>
              <a:t>제휴 타깃</a:t>
            </a:r>
          </a:p>
        </p:txBody>
      </p:sp>
      <p:sp>
        <p:nvSpPr>
          <p:cNvPr id="7" name="dot-0">
            <a:extLst xmlns:a="http://schemas.openxmlformats.org/drawingml/2006/main">
              <a:ext uri="{FF2B5EF4-FFF2-40B4-BE49-F238E27FC236}">
                <a16:creationId xmlns:a16="http://schemas.microsoft.com/office/drawing/2014/main" id="{C0B62901-9BAD-46FB-9F7F-D65E077F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71D"/>
          </a:solidFill>
        </p:spPr>
      </p:sp>
      <p:sp>
        <p:nvSpPr>
          <p:cNvPr id="8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399E00C0-7AA5-428C-9255-D91267E6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43300"/>
            <a:ext cx="7658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11827"/>
                </a:solidFill>
              </a:defRPr>
            </a:pPr>
            <a:r>
              <a:rPr sz="2025">
                <a:solidFill>
                  <a:srgbClr val="111827"/>
                </a:solidFill>
              </a:rPr>
              <a:t>주관 대학 운동 동아리</a:t>
            </a:r>
          </a:p>
        </p:txBody>
      </p:sp>
      <p:sp>
        <p:nvSpPr>
          <p:cNvPr id="9" name="dot-1">
            <a:extLst xmlns:a="http://schemas.openxmlformats.org/drawingml/2006/main">
              <a:ext uri="{FF2B5EF4-FFF2-40B4-BE49-F238E27FC236}">
                <a16:creationId xmlns:a16="http://schemas.microsoft.com/office/drawing/2014/main" id="{F52B9DDD-757B-414E-8C82-153002AB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71D"/>
          </a:solidFill>
        </p:spPr>
      </p:sp>
      <p:sp>
        <p:nvSpPr>
          <p:cNvPr id="10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08DAFDE0-E3BA-45BD-BCDD-441A360D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19550"/>
            <a:ext cx="7658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11827"/>
                </a:solidFill>
              </a:defRPr>
            </a:pPr>
            <a:r>
              <a:rPr sz="2025">
                <a:solidFill>
                  <a:srgbClr val="111827"/>
                </a:solidFill>
              </a:rPr>
              <a:t>교내 체육 관련 학과 및 학생회</a:t>
            </a:r>
          </a:p>
        </p:txBody>
      </p:sp>
      <p:sp>
        <p:nvSpPr>
          <p:cNvPr id="11" name="dot-2">
            <a:extLst xmlns:a="http://schemas.openxmlformats.org/drawingml/2006/main">
              <a:ext uri="{FF2B5EF4-FFF2-40B4-BE49-F238E27FC236}">
                <a16:creationId xmlns:a16="http://schemas.microsoft.com/office/drawing/2014/main" id="{25217D67-BA9B-4F08-9F51-EC4687D0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71D"/>
          </a:solidFill>
        </p:spPr>
      </p:sp>
      <p:sp>
        <p:nvSpPr>
          <p:cNvPr id="12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7EA34671-AE51-4A44-8A82-FCD8C63B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95800"/>
            <a:ext cx="7658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11827"/>
                </a:solidFill>
              </a:defRPr>
            </a:pPr>
            <a:r>
              <a:rPr sz="2025">
                <a:solidFill>
                  <a:srgbClr val="111827"/>
                </a:solidFill>
              </a:rPr>
              <a:t>대학가 크로스핏 박스</a:t>
            </a:r>
          </a:p>
        </p:txBody>
      </p:sp>
      <p:sp>
        <p:nvSpPr>
          <p:cNvPr id="13" name="dot-3">
            <a:extLst xmlns:a="http://schemas.openxmlformats.org/drawingml/2006/main">
              <a:ext uri="{FF2B5EF4-FFF2-40B4-BE49-F238E27FC236}">
                <a16:creationId xmlns:a16="http://schemas.microsoft.com/office/drawing/2014/main" id="{594DD74A-EA5E-43C9-9927-980E6EB2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2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71D"/>
          </a:solidFill>
        </p:spPr>
      </p:sp>
      <p:sp>
        <p:nvSpPr>
          <p:cNvPr id="14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D85A1F86-2AEC-4DFE-9C8B-497411D0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72050"/>
            <a:ext cx="7658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11827"/>
                </a:solidFill>
              </a:defRPr>
            </a:pPr>
            <a:r>
              <a:rPr sz="2025">
                <a:solidFill>
                  <a:srgbClr val="111827"/>
                </a:solidFill>
              </a:rPr>
              <a:t>운동복, 보충제, 헬스케어 브랜드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D16F26-49F5-4839-A503-822F4894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48000"/>
            <a:ext cx="7924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A3A8F"/>
                </a:solidFill>
              </a:defRPr>
            </a:pPr>
            <a:r>
              <a:rPr sz="1650" b="1">
                <a:solidFill>
                  <a:srgbClr val="1A3A8F"/>
                </a:solidFill>
              </a:rPr>
              <a:t>DM 초안</a:t>
            </a:r>
          </a:p>
        </p:txBody>
      </p:sp>
      <p:sp>
        <p:nvSpPr>
          <p:cNvPr id="16" name="dm-copy">
            <a:extLst xmlns:a="http://schemas.openxmlformats.org/drawingml/2006/main">
              <a:ext uri="{FF2B5EF4-FFF2-40B4-BE49-F238E27FC236}">
                <a16:creationId xmlns:a16="http://schemas.microsoft.com/office/drawing/2014/main" id="{8C0036D4-EC00-42CB-A726-EDACEA67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524250"/>
            <a:ext cx="7924800" cy="186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334155"/>
                </a:solidFill>
              </a:defRPr>
            </a:pPr>
            <a:r>
              <a:rPr sz="2025">
                <a:solidFill>
                  <a:srgbClr val="334155"/>
                </a:solidFill>
              </a:rPr>
              <a:t>안녕하세요. BATTLE OF THE CAMPUS 2026 운영팀입니다.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334155"/>
                </a:solidFill>
              </a:defRPr>
            </a:pPr>
            <a:r>
              <a:rPr sz="2025">
                <a:solidFill>
                  <a:srgbClr val="334155"/>
                </a:solidFill>
              </a:rPr>
              <a:t>2026년 9월 서울 올림픽공원 체조경기장에서 열리는 대학생 크로스핏 대회 홍보 협업을 제안드리고 싶습니다.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334155"/>
                </a:solidFill>
              </a:defRPr>
            </a:pPr>
            <a:r>
              <a:rPr sz="2025">
                <a:solidFill>
                  <a:srgbClr val="334155"/>
                </a:solidFill>
              </a:rPr>
              <a:t>학생 참가자에게 의미 있는 도전 기회를 함께 알릴 수 있을까요?</a:t>
            </a:r>
          </a:p>
        </p:txBody>
      </p:sp>
      <p:sp>
        <p:nvSpPr>
          <p:cNvPr id="17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443C0436-A1A2-4E2F-AD11-4FFC6076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10700"/>
            <a:ext cx="2266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BATTLE OF THE CAMPUS 2026</a:t>
            </a:r>
          </a:p>
        </p:txBody>
      </p:sp>
      <p:sp>
        <p:nvSpPr>
          <p:cNvPr id="18" name="page">
            <a:extLst xmlns:a="http://schemas.openxmlformats.org/drawingml/2006/main">
              <a:ext uri="{FF2B5EF4-FFF2-40B4-BE49-F238E27FC236}">
                <a16:creationId xmlns:a16="http://schemas.microsoft.com/office/drawing/2014/main" id="{7FFA86FF-50A4-4E61-94E5-DFEA27C4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02150" y="9410700"/>
            <a:ext cx="171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8471D"/>
                </a:solidFill>
              </a:defRPr>
            </a:pPr>
            <a:r>
              <a:rPr sz="1200" b="1">
                <a:solidFill>
                  <a:srgbClr val="E8471D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4916923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092733FE-D706-4D7E-8CA6-FD0171E4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9"/>
          </a:solidFill>
        </p:spPr>
      </p:sp>
      <p:sp>
        <p:nvSpPr>
          <p:cNvPr id="2" name="top-band">
            <a:extLst xmlns:a="http://schemas.openxmlformats.org/drawingml/2006/main">
              <a:ext uri="{FF2B5EF4-FFF2-40B4-BE49-F238E27FC236}">
                <a16:creationId xmlns:a16="http://schemas.microsoft.com/office/drawing/2014/main" id="{490BE6A1-CDA9-4D50-8D06-8C6BAEA6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71D"/>
          </a:solidFill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A50EEDC3-B003-4F21-9793-45EB5AF1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914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8471D"/>
                </a:solidFill>
              </a:defRPr>
            </a:pPr>
            <a:r>
              <a:rPr sz="1350" b="1">
                <a:solidFill>
                  <a:srgbClr val="E8471D"/>
                </a:solidFill>
              </a:rPr>
              <a:t>BOTC 2026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77F558-E7FA-46C0-87DF-9A03646D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43000"/>
            <a:ext cx="375285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71030"/>
                </a:solidFill>
              </a:defRPr>
            </a:pPr>
            <a:r>
              <a:rPr sz="4350" b="1">
                <a:solidFill>
                  <a:srgbClr val="071030"/>
                </a:solidFill>
              </a:rPr>
              <a:t>NEXT ACTION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FF6EAE55-CF9D-4FFB-9BB4-E788C024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5372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75569"/>
                </a:solidFill>
              </a:defRPr>
            </a:pPr>
            <a:r>
              <a:rPr sz="1800">
                <a:solidFill>
                  <a:srgbClr val="475569"/>
                </a:solidFill>
              </a:rPr>
              <a:t>게시 전 운영 리스크를 닫고, 신청 링크 중심으로 배포합니다.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FC61CA-E010-493B-9D1A-C1096855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91100"/>
            <a:ext cx="5943600" cy="1466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071030"/>
                </a:solidFill>
              </a:defRPr>
            </a:pPr>
            <a:r>
              <a:rPr sz="4800" b="1">
                <a:solidFill>
                  <a:srgbClr val="071030"/>
                </a:solidFill>
              </a:rPr>
              <a:t>마감 전 신청 흐름을 짧게 만듭니다.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EC570C-C1E7-4026-973D-EED1BBF3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24650"/>
            <a:ext cx="71628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334155"/>
                </a:solidFill>
              </a:defRPr>
            </a:pPr>
            <a:r>
              <a:rPr sz="2250">
                <a:solidFill>
                  <a:srgbClr val="334155"/>
                </a:solidFill>
              </a:rPr>
              <a:t>CTA 주변에 날짜, 장소, 참가비, 선착순 정보를 다시 노출하세요.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2B6520-45E7-4608-94C4-CB20D9D1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448050"/>
            <a:ext cx="7486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8471D"/>
                </a:solidFill>
              </a:defRPr>
            </a:pPr>
            <a:r>
              <a:rPr sz="1650" b="1">
                <a:solidFill>
                  <a:srgbClr val="E8471D"/>
                </a:solidFill>
              </a:rPr>
              <a:t>게시 전 체크리스트</a:t>
            </a:r>
          </a:p>
        </p:txBody>
      </p:sp>
      <p:sp>
        <p:nvSpPr>
          <p:cNvPr id="9" name="dot-0">
            <a:extLst xmlns:a="http://schemas.openxmlformats.org/drawingml/2006/main">
              <a:ext uri="{FF2B5EF4-FFF2-40B4-BE49-F238E27FC236}">
                <a16:creationId xmlns:a16="http://schemas.microsoft.com/office/drawing/2014/main" id="{198025E3-3A91-466D-B8C4-D2A6779B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886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71D"/>
          </a:solidFill>
        </p:spPr>
      </p:sp>
      <p:sp>
        <p:nvSpPr>
          <p:cNvPr id="10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717414F8-E461-4AF5-AAD7-15C168BB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886200"/>
            <a:ext cx="7219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11827"/>
                </a:solidFill>
              </a:defRPr>
            </a:pPr>
            <a:r>
              <a:rPr sz="2025">
                <a:solidFill>
                  <a:srgbClr val="111827"/>
                </a:solidFill>
              </a:rPr>
              <a:t>개인정보 처리방침 URL 연결</a:t>
            </a:r>
          </a:p>
        </p:txBody>
      </p:sp>
      <p:sp>
        <p:nvSpPr>
          <p:cNvPr id="11" name="dot-1">
            <a:extLst xmlns:a="http://schemas.openxmlformats.org/drawingml/2006/main">
              <a:ext uri="{FF2B5EF4-FFF2-40B4-BE49-F238E27FC236}">
                <a16:creationId xmlns:a16="http://schemas.microsoft.com/office/drawing/2014/main" id="{D1E5380C-5069-4A1A-8107-5433F22F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362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71D"/>
          </a:solidFill>
        </p:spPr>
      </p:sp>
      <p:sp>
        <p:nvSpPr>
          <p:cNvPr id="12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8187968E-BD0D-482B-8433-90825FA0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362450"/>
            <a:ext cx="7219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11827"/>
                </a:solidFill>
              </a:defRPr>
            </a:pPr>
            <a:r>
              <a:rPr sz="2025">
                <a:solidFill>
                  <a:srgbClr val="111827"/>
                </a:solidFill>
              </a:rPr>
              <a:t>참가비 납부 안내 메일 템플릿 확인</a:t>
            </a:r>
          </a:p>
        </p:txBody>
      </p:sp>
      <p:sp>
        <p:nvSpPr>
          <p:cNvPr id="13" name="dot-2">
            <a:extLst xmlns:a="http://schemas.openxmlformats.org/drawingml/2006/main">
              <a:ext uri="{FF2B5EF4-FFF2-40B4-BE49-F238E27FC236}">
                <a16:creationId xmlns:a16="http://schemas.microsoft.com/office/drawing/2014/main" id="{4354365F-9EF3-48B5-A3E8-EBEBDAE3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838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71D"/>
          </a:solidFill>
        </p:spPr>
      </p:sp>
      <p:sp>
        <p:nvSpPr>
          <p:cNvPr id="14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B96D8790-450A-46D0-B337-EDB61C7A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838700"/>
            <a:ext cx="7219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11827"/>
                </a:solidFill>
              </a:defRPr>
            </a:pPr>
            <a:r>
              <a:rPr sz="2025">
                <a:solidFill>
                  <a:srgbClr val="111827"/>
                </a:solidFill>
              </a:rPr>
              <a:t>환불 및 참가 자격 안내 확정</a:t>
            </a:r>
          </a:p>
        </p:txBody>
      </p:sp>
      <p:sp>
        <p:nvSpPr>
          <p:cNvPr id="15" name="dot-3">
            <a:extLst xmlns:a="http://schemas.openxmlformats.org/drawingml/2006/main">
              <a:ext uri="{FF2B5EF4-FFF2-40B4-BE49-F238E27FC236}">
                <a16:creationId xmlns:a16="http://schemas.microsoft.com/office/drawing/2014/main" id="{963B193C-F0E7-42F9-9761-5B2A7D7D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334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71D"/>
          </a:solidFill>
        </p:spPr>
      </p:sp>
      <p:sp>
        <p:nvSpPr>
          <p:cNvPr id="16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6C7318DA-5FB2-49DF-BB4F-68C433A7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334000"/>
            <a:ext cx="7219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11827"/>
                </a:solidFill>
              </a:defRPr>
            </a:pPr>
            <a:r>
              <a:rPr sz="2025">
                <a:solidFill>
                  <a:srgbClr val="111827"/>
                </a:solidFill>
              </a:rPr>
              <a:t>커뮤니티 홍보 규정 확인</a:t>
            </a:r>
          </a:p>
        </p:txBody>
      </p:sp>
      <p:sp>
        <p:nvSpPr>
          <p:cNvPr id="17" name="dot-4">
            <a:extLst xmlns:a="http://schemas.openxmlformats.org/drawingml/2006/main">
              <a:ext uri="{FF2B5EF4-FFF2-40B4-BE49-F238E27FC236}">
                <a16:creationId xmlns:a16="http://schemas.microsoft.com/office/drawing/2014/main" id="{B5068EA3-E4E0-459C-98C1-4B2E54D1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81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71D"/>
          </a:solidFill>
        </p:spPr>
      </p:sp>
      <p:sp>
        <p:nvSpPr>
          <p:cNvPr id="18" name="bullet-text-4">
            <a:extLst xmlns:a="http://schemas.openxmlformats.org/drawingml/2006/main">
              <a:ext uri="{FF2B5EF4-FFF2-40B4-BE49-F238E27FC236}">
                <a16:creationId xmlns:a16="http://schemas.microsoft.com/office/drawing/2014/main" id="{B9F3D55E-6694-4808-A25C-B45EA383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810250"/>
            <a:ext cx="7219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11827"/>
                </a:solidFill>
              </a:defRPr>
            </a:pPr>
            <a:r>
              <a:rPr sz="2025">
                <a:solidFill>
                  <a:srgbClr val="111827"/>
                </a:solidFill>
              </a:rPr>
              <a:t>채널별 UTM 링크 준비</a:t>
            </a:r>
          </a:p>
        </p:txBody>
      </p:sp>
      <p:sp>
        <p:nvSpPr>
          <p:cNvPr id="19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E394424A-EB90-45BB-BE3C-1CBDCC42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10700"/>
            <a:ext cx="2266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BATTLE OF THE CAMPUS 2026</a:t>
            </a:r>
          </a:p>
        </p:txBody>
      </p:sp>
      <p:sp>
        <p:nvSpPr>
          <p:cNvPr id="20" name="page">
            <a:extLst xmlns:a="http://schemas.openxmlformats.org/drawingml/2006/main">
              <a:ext uri="{FF2B5EF4-FFF2-40B4-BE49-F238E27FC236}">
                <a16:creationId xmlns:a16="http://schemas.microsoft.com/office/drawing/2014/main" id="{7D686385-32B8-4542-920B-F80B0405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02150" y="9410700"/>
            <a:ext cx="171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8471D"/>
                </a:solidFill>
              </a:defRPr>
            </a:pPr>
            <a:r>
              <a:rPr sz="1200" b="1">
                <a:solidFill>
                  <a:srgbClr val="E8471D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494702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2026-04-30T06:51:03.3900000Z</dcterms:created>
  <dcterms:modified xsi:type="dcterms:W3CDTF">2026-04-30T06:51:03.3900000Z</dcterms:modified>
</coreProperties>
</file>